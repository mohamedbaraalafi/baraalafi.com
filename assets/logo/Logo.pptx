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0" r:id="rId2"/>
    <p:sldId id="271" r:id="rId3"/>
    <p:sldId id="272" r:id="rId4"/>
    <p:sldId id="279" r:id="rId5"/>
    <p:sldId id="281" r:id="rId6"/>
    <p:sldId id="278" r:id="rId7"/>
    <p:sldId id="277" r:id="rId8"/>
    <p:sldId id="28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199"/>
    <a:srgbClr val="266062"/>
    <a:srgbClr val="403294"/>
    <a:srgbClr val="7B3AEC"/>
    <a:srgbClr val="313285"/>
    <a:srgbClr val="7A3BE9"/>
    <a:srgbClr val="37A169"/>
    <a:srgbClr val="205160"/>
    <a:srgbClr val="2F80EC"/>
    <a:srgbClr val="0815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5A081-9811-4143-82A5-42415BC3C46C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9028A-5B21-4AA0-89ED-A6A5B9ED7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32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374F-F0B8-E621-CDF2-A6414F39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04A52-C720-70EC-AD39-5C12B74E6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D8822-9217-F605-BE25-AAE2CF144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A7576-B504-461E-9C75-7AFA1889A21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48136-3EE4-BEB3-54C8-CA1358731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C62F2-1AAF-1BAE-CAAD-8F47BA12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B4AB3-E772-49D5-B705-015BC0B9F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4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A585B-9AA9-B55F-9F16-E97F92B3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31A74-243B-3801-E0C5-A0CF9C254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90465-CF21-0981-3D7E-39C483A9E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A7576-B504-461E-9C75-7AFA1889A21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2FB17-2ECF-0B08-1E3C-4D32F06CF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8D34D-45AE-8E8E-33C6-8AA5FFCA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B4AB3-E772-49D5-B705-015BC0B9F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27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2D6F5-884E-4954-3328-C4BAD828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42BD7-FBB5-106A-5022-B02FB587B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5CEB0-E34E-69C8-BFD9-0A52A5E4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A7576-B504-461E-9C75-7AFA1889A21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E25CC-2C1A-E333-33E1-058DFFE6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60D6A-4F9D-259B-C12C-CB95AEAD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B4AB3-E772-49D5-B705-015BC0B9F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52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DB72B-6890-8744-74A6-C2BEDAA4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167CF-8293-9FDC-B4DD-B77177EA2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45780-6B04-D9D0-B804-AB189A0B4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C14A4-1F93-F229-1D10-07F5678D5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A7576-B504-461E-9C75-7AFA1889A21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08025-5F42-CEBA-A173-11B2C2686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A55A9-AE3E-BDC9-EA3C-B359477CA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B4AB3-E772-49D5-B705-015BC0B9F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70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79F05-A5FC-68E0-2CA5-1E92CAA77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39AAF-F40B-78B4-DF5F-7F1E1BF72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9E190-EC92-BEF7-763A-2B44739E2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D9018D-D481-EBF9-A30B-DD4532D84D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BEE569-BB51-F275-3157-519071F64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8257C5-E49E-5C6D-43BA-05905DBB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A7576-B504-461E-9C75-7AFA1889A21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5C4DEF-40B0-D02F-477F-E1F37811A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BA8C8C-50A3-D7E4-1C20-68C00EB75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B4AB3-E772-49D5-B705-015BC0B9F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36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7FD4-3FA7-B829-B787-E780D40A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ABF078-9E16-E07A-E6FD-825345221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A7576-B504-461E-9C75-7AFA1889A21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A68B40-A723-006F-CBD3-F44A7B396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3739A-4175-A200-E620-3D793E86B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B4AB3-E772-49D5-B705-015BC0B9F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5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77A91D-995E-C568-6FB0-DC3F83571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A7576-B504-461E-9C75-7AFA1889A21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B7383-C4CE-A118-E9F9-2787B85FB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42640-0E96-E26E-64BF-6BA1F017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B4AB3-E772-49D5-B705-015BC0B9F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99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B020-73D0-29D9-ABF2-8FF7E1D16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83CAA-B5E4-0F13-E15B-1837E3B67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B1506-926D-2625-82EB-3AD6E5944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E1848-A38A-CAC0-68B4-C6CA8F595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A7576-B504-461E-9C75-7AFA1889A21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115E6-994D-1012-2147-DF0779602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8F3EB-A0BF-2532-75D8-DFA7E00CE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B4AB3-E772-49D5-B705-015BC0B9F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1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C4C21-1A02-7EC0-865F-8BC0866DB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0B5627-C76F-4CC5-8EED-1D8C984704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5CDCF-1108-5BD4-487F-9C9A6D5E9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445BF-9274-CE55-6222-B2952EECB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A7576-B504-461E-9C75-7AFA1889A21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98916-6C67-1D23-2CE7-40B15027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06060-60A7-7690-14AB-4325CA52D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B4AB3-E772-49D5-B705-015BC0B9F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00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C9509-2E61-245C-F615-B19A849E5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4D50E-B1F5-204D-793F-631E1152E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DAA38-FC80-E755-6BEF-32DC094D2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A7576-B504-461E-9C75-7AFA1889A21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FBAE7-A89D-41DB-C265-079006DC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B0F7-42F5-C47A-AFA9-C0997738D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B4AB3-E772-49D5-B705-015BC0B9F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39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8C354F-F6EB-3B72-2A88-B75C3DF66F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58A50-E89C-B529-B97E-9ADB301E3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AAABA-BDE3-9247-9DD2-929317F2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A7576-B504-461E-9C75-7AFA1889A21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8C783-4ABB-E96B-4B88-77A53608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F1D6E-EF46-3D71-3ABF-1A766238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B4AB3-E772-49D5-B705-015BC0B9F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0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407423-E256-3010-B4AE-786F2A42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5E2DD-350C-6DBE-E635-56B377C5D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91EED-EB4D-1734-3D98-2F079CFB13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A7576-B504-461E-9C75-7AFA1889A21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004F5-0476-89D6-3B33-26283CF41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4654B-F80F-0AA7-B4C1-EFE0F3CD4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5B4AB3-E772-49D5-B705-015BC0B9F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4D964B3-0989-6FBC-2097-B988266AD3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5990" y="766192"/>
            <a:ext cx="3659542" cy="506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9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B0F8-7CB4-4420-AEED-DD9AF32F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8FA053F-46FA-0CE1-6580-5A72E1ED24AA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0"/>
            <a:chExt cx="6858000" cy="6858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4C005A6-3E4C-4534-9E8C-9120B816217B}"/>
                </a:ext>
              </a:extLst>
            </p:cNvPr>
            <p:cNvSpPr/>
            <p:nvPr/>
          </p:nvSpPr>
          <p:spPr>
            <a:xfrm>
              <a:off x="2667000" y="0"/>
              <a:ext cx="6858000" cy="6858000"/>
            </a:xfrm>
            <a:prstGeom prst="ellipse">
              <a:avLst/>
            </a:prstGeom>
            <a:solidFill>
              <a:srgbClr val="0D1F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15BFA9E0-912A-9FCE-6592-3918332BE3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55990" y="766192"/>
              <a:ext cx="3659542" cy="50610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1116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7036BC3-046D-6DDA-9A5D-8CD389F74991}"/>
              </a:ext>
            </a:extLst>
          </p:cNvPr>
          <p:cNvSpPr/>
          <p:nvPr/>
        </p:nvSpPr>
        <p:spPr>
          <a:xfrm>
            <a:off x="381000" y="428175"/>
            <a:ext cx="11430000" cy="6001200"/>
          </a:xfrm>
          <a:prstGeom prst="rect">
            <a:avLst/>
          </a:prstGeom>
          <a:gradFill flip="none" rotWithShape="1">
            <a:gsLst>
              <a:gs pos="0">
                <a:srgbClr val="1F4C90"/>
              </a:gs>
              <a:gs pos="42000">
                <a:srgbClr val="112B52"/>
              </a:gs>
              <a:gs pos="100000">
                <a:srgbClr val="08152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6C70FA-0638-EDB8-BA68-F9B4CA13813F}"/>
              </a:ext>
            </a:extLst>
          </p:cNvPr>
          <p:cNvSpPr/>
          <p:nvPr/>
        </p:nvSpPr>
        <p:spPr>
          <a:xfrm>
            <a:off x="381000" y="6348592"/>
            <a:ext cx="11430000" cy="80783"/>
          </a:xfrm>
          <a:prstGeom prst="rect">
            <a:avLst/>
          </a:prstGeom>
          <a:solidFill>
            <a:srgbClr val="2F80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322619-1795-1BAA-CEC2-E4EE3AF25AE7}"/>
              </a:ext>
            </a:extLst>
          </p:cNvPr>
          <p:cNvGrpSpPr/>
          <p:nvPr/>
        </p:nvGrpSpPr>
        <p:grpSpPr>
          <a:xfrm>
            <a:off x="1090248" y="1090662"/>
            <a:ext cx="688132" cy="688132"/>
            <a:chOff x="2667000" y="1"/>
            <a:chExt cx="6858000" cy="685799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8429B0F-682F-DAE2-A777-0E493A8B6B92}"/>
                </a:ext>
              </a:extLst>
            </p:cNvPr>
            <p:cNvSpPr/>
            <p:nvPr/>
          </p:nvSpPr>
          <p:spPr>
            <a:xfrm>
              <a:off x="2667000" y="1"/>
              <a:ext cx="6858000" cy="6857999"/>
            </a:xfrm>
            <a:prstGeom prst="ellipse">
              <a:avLst/>
            </a:prstGeom>
            <a:solidFill>
              <a:srgbClr val="0D1F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41C50D9F-F737-2517-7977-B34AEF295F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55990" y="766192"/>
              <a:ext cx="3659542" cy="5061070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50EE046B-8748-2BF9-91F4-B0C7E01A08EB}"/>
              </a:ext>
            </a:extLst>
          </p:cNvPr>
          <p:cNvSpPr/>
          <p:nvPr/>
        </p:nvSpPr>
        <p:spPr>
          <a:xfrm>
            <a:off x="1812050" y="977528"/>
            <a:ext cx="268346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b="1" dirty="0">
                <a:latin typeface="Inter" panose="02000503000000020004" pitchFamily="2" charset="0"/>
                <a:ea typeface="Inter" panose="02000503000000020004" pitchFamily="2" charset="0"/>
              </a:rPr>
              <a:t>Mohamed Baraa Lafi</a:t>
            </a:r>
          </a:p>
          <a:p>
            <a:r>
              <a:rPr lang="fr-FR" sz="1600" dirty="0">
                <a:solidFill>
                  <a:srgbClr val="C6D4EC"/>
                </a:solidFill>
                <a:latin typeface="Inter" panose="02000503000000020004" pitchFamily="2" charset="0"/>
                <a:ea typeface="Inter" panose="02000503000000020004" pitchFamily="2" charset="0"/>
              </a:rPr>
              <a:t>Articles</a:t>
            </a:r>
            <a:endParaRPr lang="en-US" sz="1400" dirty="0">
              <a:solidFill>
                <a:srgbClr val="C6D4E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2C987B-74FD-A5B6-C696-C62E2421FE8C}"/>
              </a:ext>
            </a:extLst>
          </p:cNvPr>
          <p:cNvSpPr/>
          <p:nvPr/>
        </p:nvSpPr>
        <p:spPr>
          <a:xfrm>
            <a:off x="1056578" y="2283480"/>
            <a:ext cx="1468346" cy="373340"/>
          </a:xfrm>
          <a:prstGeom prst="roundRect">
            <a:avLst>
              <a:gd name="adj" fmla="val 50000"/>
            </a:avLst>
          </a:prstGeom>
          <a:solidFill>
            <a:srgbClr val="318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rgbClr val="0D1F3C"/>
                </a:solidFill>
                <a:latin typeface="Inter" panose="02000503000000020004" pitchFamily="2" charset="0"/>
                <a:ea typeface="Inter" panose="02000503000000020004" pitchFamily="2" charset="0"/>
              </a:rPr>
              <a:t>ECONOMY </a:t>
            </a:r>
            <a:endParaRPr lang="en-US" sz="1600" b="1" dirty="0">
              <a:solidFill>
                <a:srgbClr val="0D1F3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BDBDF9-94FA-3A41-34D1-F00B4774A1ED}"/>
              </a:ext>
            </a:extLst>
          </p:cNvPr>
          <p:cNvSpPr/>
          <p:nvPr/>
        </p:nvSpPr>
        <p:spPr>
          <a:xfrm>
            <a:off x="2571801" y="2096811"/>
            <a:ext cx="2683469" cy="746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rgbClr val="C6D4EC"/>
                </a:solidFill>
                <a:latin typeface="Inter" panose="02000503000000020004" pitchFamily="2" charset="0"/>
                <a:ea typeface="Inter" panose="02000503000000020004" pitchFamily="2" charset="0"/>
              </a:rPr>
              <a:t>May 202</a:t>
            </a:r>
            <a:r>
              <a:rPr lang="ar-TN" dirty="0">
                <a:solidFill>
                  <a:srgbClr val="C6D4EC"/>
                </a:solidFill>
                <a:latin typeface="Inter" panose="02000503000000020004" pitchFamily="2" charset="0"/>
                <a:ea typeface="Inter" panose="02000503000000020004" pitchFamily="2" charset="0"/>
              </a:rPr>
              <a:t>5</a:t>
            </a:r>
            <a:endParaRPr lang="en-US" sz="1600" dirty="0">
              <a:solidFill>
                <a:srgbClr val="C6D4E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9B6C06-6539-728D-E975-1D8CC964D2A7}"/>
              </a:ext>
            </a:extLst>
          </p:cNvPr>
          <p:cNvSpPr/>
          <p:nvPr/>
        </p:nvSpPr>
        <p:spPr>
          <a:xfrm>
            <a:off x="975194" y="3030100"/>
            <a:ext cx="8398844" cy="1577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Cross-Investment Between US and GCC</a:t>
            </a:r>
            <a:endParaRPr lang="ar-TN" sz="4800" b="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sz="2000" dirty="0">
                <a:solidFill>
                  <a:srgbClr val="C6D4EC"/>
                </a:solidFill>
                <a:latin typeface="Inter" panose="02000503000000020004" pitchFamily="2" charset="0"/>
                <a:ea typeface="Inter" panose="02000503000000020004" pitchFamily="2" charset="0"/>
              </a:rPr>
              <a:t>What the Data Show</a:t>
            </a:r>
          </a:p>
        </p:txBody>
      </p:sp>
      <p:pic>
        <p:nvPicPr>
          <p:cNvPr id="25" name="Graphic 24" descr="Bar chart with solid fill">
            <a:extLst>
              <a:ext uri="{FF2B5EF4-FFF2-40B4-BE49-F238E27FC236}">
                <a16:creationId xmlns:a16="http://schemas.microsoft.com/office/drawing/2014/main" id="{F8EC065C-E54D-0A17-2BF9-F690BF4AC5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9224" y="2914097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68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E8153-A16C-BF61-3FFC-DA1DEE46E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0278D53-5E3E-2464-4301-CA9553408141}"/>
              </a:ext>
            </a:extLst>
          </p:cNvPr>
          <p:cNvSpPr/>
          <p:nvPr/>
        </p:nvSpPr>
        <p:spPr>
          <a:xfrm flipH="1">
            <a:off x="373811" y="428175"/>
            <a:ext cx="11444378" cy="6001200"/>
          </a:xfrm>
          <a:prstGeom prst="rect">
            <a:avLst/>
          </a:prstGeom>
          <a:gradFill flip="none" rotWithShape="1">
            <a:gsLst>
              <a:gs pos="0">
                <a:srgbClr val="1F4C90"/>
              </a:gs>
              <a:gs pos="42000">
                <a:srgbClr val="112B52"/>
              </a:gs>
              <a:gs pos="100000">
                <a:srgbClr val="08152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E63AA3-5B57-91B3-95AD-A6CC0941616D}"/>
              </a:ext>
            </a:extLst>
          </p:cNvPr>
          <p:cNvSpPr/>
          <p:nvPr/>
        </p:nvSpPr>
        <p:spPr>
          <a:xfrm flipH="1">
            <a:off x="373811" y="6348592"/>
            <a:ext cx="11444378" cy="80783"/>
          </a:xfrm>
          <a:prstGeom prst="rect">
            <a:avLst/>
          </a:prstGeom>
          <a:solidFill>
            <a:srgbClr val="2F80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80A749-A8AD-40E3-A6C1-BB537B415E16}"/>
              </a:ext>
            </a:extLst>
          </p:cNvPr>
          <p:cNvGrpSpPr/>
          <p:nvPr/>
        </p:nvGrpSpPr>
        <p:grpSpPr>
          <a:xfrm>
            <a:off x="10426460" y="1090662"/>
            <a:ext cx="687600" cy="688132"/>
            <a:chOff x="2667000" y="1"/>
            <a:chExt cx="6858000" cy="685799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34F16-84EB-48D6-FA3B-87B10E167FDA}"/>
                </a:ext>
              </a:extLst>
            </p:cNvPr>
            <p:cNvSpPr/>
            <p:nvPr/>
          </p:nvSpPr>
          <p:spPr>
            <a:xfrm>
              <a:off x="2667000" y="1"/>
              <a:ext cx="6858000" cy="6857999"/>
            </a:xfrm>
            <a:prstGeom prst="ellipse">
              <a:avLst/>
            </a:prstGeom>
            <a:solidFill>
              <a:srgbClr val="0D1F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CE1225F-30AE-49C9-4FA2-1CB0959904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55990" y="766192"/>
              <a:ext cx="3659542" cy="5061070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300ACAFE-C5E4-9885-03B8-65B13E5B052F}"/>
              </a:ext>
            </a:extLst>
          </p:cNvPr>
          <p:cNvSpPr/>
          <p:nvPr/>
        </p:nvSpPr>
        <p:spPr>
          <a:xfrm flipH="1">
            <a:off x="7698494" y="977528"/>
            <a:ext cx="2686845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TN" sz="1400" b="1" dirty="0"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محمد براء اللافي</a:t>
            </a:r>
            <a:endParaRPr lang="fr-FR" sz="1400" b="1" dirty="0">
              <a:latin typeface="Tajawal" panose="00000500000000000000" pitchFamily="2" charset="-78"/>
              <a:ea typeface="Inter" panose="02000503000000020004" pitchFamily="2" charset="0"/>
              <a:cs typeface="Tajawal" panose="00000500000000000000" pitchFamily="2" charset="-78"/>
            </a:endParaRPr>
          </a:p>
          <a:p>
            <a:pPr algn="r" rtl="1"/>
            <a:r>
              <a:rPr lang="ar-TN" sz="1600" dirty="0">
                <a:solidFill>
                  <a:srgbClr val="C6D4EC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مقالات</a:t>
            </a:r>
            <a:endParaRPr lang="en-US" sz="1400" dirty="0">
              <a:solidFill>
                <a:srgbClr val="C6D4EC"/>
              </a:solidFill>
              <a:latin typeface="Tajawal" panose="00000500000000000000" pitchFamily="2" charset="-78"/>
              <a:ea typeface="Inter" panose="02000503000000020004" pitchFamily="2" charset="0"/>
              <a:cs typeface="Tajawal" panose="000005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A4C76E0-EBA2-5634-CBA4-98441E4CCEE7}"/>
              </a:ext>
            </a:extLst>
          </p:cNvPr>
          <p:cNvSpPr/>
          <p:nvPr/>
        </p:nvSpPr>
        <p:spPr>
          <a:xfrm flipH="1">
            <a:off x="9671568" y="2283480"/>
            <a:ext cx="1470193" cy="373340"/>
          </a:xfrm>
          <a:prstGeom prst="roundRect">
            <a:avLst>
              <a:gd name="adj" fmla="val 50000"/>
            </a:avLst>
          </a:prstGeom>
          <a:solidFill>
            <a:srgbClr val="318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TN" sz="1600" b="1" dirty="0">
                <a:solidFill>
                  <a:srgbClr val="0D1F3C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اقتصاد</a:t>
            </a:r>
            <a:r>
              <a:rPr lang="fr-FR" sz="1600" b="1" dirty="0">
                <a:solidFill>
                  <a:srgbClr val="0D1F3C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 </a:t>
            </a:r>
            <a:endParaRPr lang="en-US" sz="1600" b="1" dirty="0">
              <a:solidFill>
                <a:srgbClr val="0D1F3C"/>
              </a:solidFill>
              <a:latin typeface="Tajawal" panose="00000500000000000000" pitchFamily="2" charset="-78"/>
              <a:ea typeface="Inter" panose="02000503000000020004" pitchFamily="2" charset="0"/>
              <a:cs typeface="Tajawal" panose="00000500000000000000" pitchFamily="2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4C6DEB-EE74-419A-779C-B695B574946E}"/>
              </a:ext>
            </a:extLst>
          </p:cNvPr>
          <p:cNvSpPr/>
          <p:nvPr/>
        </p:nvSpPr>
        <p:spPr>
          <a:xfrm flipH="1">
            <a:off x="6937788" y="2096811"/>
            <a:ext cx="2686845" cy="746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TN" dirty="0">
                <a:solidFill>
                  <a:srgbClr val="C6D4EC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ماي 2025</a:t>
            </a:r>
            <a:endParaRPr lang="en-US" sz="1600" dirty="0">
              <a:solidFill>
                <a:srgbClr val="C6D4EC"/>
              </a:solidFill>
              <a:latin typeface="Tajawal" panose="00000500000000000000" pitchFamily="2" charset="-78"/>
              <a:ea typeface="Inter" panose="02000503000000020004" pitchFamily="2" charset="0"/>
              <a:cs typeface="Tajawal" panose="00000500000000000000" pitchFamily="2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A1D1ED-A997-2B07-80BB-F11FCF5A4C43}"/>
              </a:ext>
            </a:extLst>
          </p:cNvPr>
          <p:cNvSpPr/>
          <p:nvPr/>
        </p:nvSpPr>
        <p:spPr>
          <a:xfrm flipH="1">
            <a:off x="3462703" y="3018598"/>
            <a:ext cx="7760544" cy="1577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 rtl="1"/>
            <a:r>
              <a:rPr lang="ar-TN" sz="4800" b="1" dirty="0"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الاستثمارات بين الولايات المتحدة ودول الخليج</a:t>
            </a:r>
          </a:p>
          <a:p>
            <a:pPr algn="r" rtl="1"/>
            <a:r>
              <a:rPr lang="ar-TN" sz="2000" dirty="0">
                <a:solidFill>
                  <a:srgbClr val="C6D4EC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ماذا تقول البيانات؟</a:t>
            </a:r>
          </a:p>
        </p:txBody>
      </p:sp>
      <p:pic>
        <p:nvPicPr>
          <p:cNvPr id="25" name="Graphic 24" descr="Bar chart with solid fill">
            <a:extLst>
              <a:ext uri="{FF2B5EF4-FFF2-40B4-BE49-F238E27FC236}">
                <a16:creationId xmlns:a16="http://schemas.microsoft.com/office/drawing/2014/main" id="{DEF63F38-4F07-8328-AAFE-94DA532E1A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968752" y="2914097"/>
            <a:ext cx="2778656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73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7F25D-9270-E794-5927-39CADAD7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0D999EB-167D-F993-0022-3ABB459789D6}"/>
              </a:ext>
            </a:extLst>
          </p:cNvPr>
          <p:cNvSpPr/>
          <p:nvPr/>
        </p:nvSpPr>
        <p:spPr>
          <a:xfrm>
            <a:off x="419819" y="428625"/>
            <a:ext cx="11352362" cy="6001200"/>
          </a:xfrm>
          <a:prstGeom prst="rect">
            <a:avLst/>
          </a:prstGeom>
          <a:gradFill flip="none" rotWithShape="1">
            <a:gsLst>
              <a:gs pos="0">
                <a:srgbClr val="205160"/>
              </a:gs>
              <a:gs pos="85000">
                <a:srgbClr val="0C1E30"/>
              </a:gs>
              <a:gs pos="100000">
                <a:srgbClr val="08152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3FB3DB-B5CE-B7F6-05D5-E5F164EE3C92}"/>
              </a:ext>
            </a:extLst>
          </p:cNvPr>
          <p:cNvSpPr/>
          <p:nvPr/>
        </p:nvSpPr>
        <p:spPr>
          <a:xfrm>
            <a:off x="419819" y="6348592"/>
            <a:ext cx="11352362" cy="80783"/>
          </a:xfrm>
          <a:prstGeom prst="rect">
            <a:avLst/>
          </a:prstGeom>
          <a:solidFill>
            <a:srgbClr val="37A1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DF5BB4-CAB2-4C5A-0E84-7D0E6966AD84}"/>
              </a:ext>
            </a:extLst>
          </p:cNvPr>
          <p:cNvSpPr/>
          <p:nvPr/>
        </p:nvSpPr>
        <p:spPr>
          <a:xfrm>
            <a:off x="1090808" y="2283480"/>
            <a:ext cx="1458373" cy="37334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rgbClr val="0D1F3C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SOCIETY</a:t>
            </a:r>
            <a:endParaRPr lang="en-US" sz="1600" b="1" dirty="0">
              <a:solidFill>
                <a:srgbClr val="0D1F3C"/>
              </a:solidFill>
              <a:latin typeface="Tajawal" panose="00000500000000000000" pitchFamily="2" charset="-78"/>
              <a:ea typeface="Inter" panose="02000503000000020004" pitchFamily="2" charset="0"/>
              <a:cs typeface="Tajawal" panose="00000500000000000000" pitchFamily="2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A54DC7-CE32-6CAF-6338-150C03957B6F}"/>
              </a:ext>
            </a:extLst>
          </p:cNvPr>
          <p:cNvSpPr/>
          <p:nvPr/>
        </p:nvSpPr>
        <p:spPr>
          <a:xfrm>
            <a:off x="2595740" y="2096811"/>
            <a:ext cx="2665242" cy="746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dirty="0">
                <a:solidFill>
                  <a:srgbClr val="C6D4EC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May 2025</a:t>
            </a:r>
            <a:endParaRPr lang="en-US" sz="1600" dirty="0">
              <a:solidFill>
                <a:srgbClr val="C6D4EC"/>
              </a:solidFill>
              <a:latin typeface="Tajawal" panose="00000500000000000000" pitchFamily="2" charset="-78"/>
              <a:ea typeface="Inter" panose="02000503000000020004" pitchFamily="2" charset="0"/>
              <a:cs typeface="Tajawal" panose="00000500000000000000" pitchFamily="2" charset="-78"/>
            </a:endParaRPr>
          </a:p>
        </p:txBody>
      </p:sp>
      <p:pic>
        <p:nvPicPr>
          <p:cNvPr id="22" name="Graphic 21" descr="City with solid fill">
            <a:extLst>
              <a:ext uri="{FF2B5EF4-FFF2-40B4-BE49-F238E27FC236}">
                <a16:creationId xmlns:a16="http://schemas.microsoft.com/office/drawing/2014/main" id="{1BF07982-EE15-1677-1B2E-411C86B79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3647" y="2914097"/>
            <a:ext cx="2860437" cy="2880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27AF84B-3091-9527-16E7-071C52677CF7}"/>
              </a:ext>
            </a:extLst>
          </p:cNvPr>
          <p:cNvSpPr/>
          <p:nvPr/>
        </p:nvSpPr>
        <p:spPr>
          <a:xfrm>
            <a:off x="1009978" y="3018598"/>
            <a:ext cx="7698153" cy="1577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sz="4800" b="1" dirty="0"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Tunisia's Population Census</a:t>
            </a:r>
          </a:p>
          <a:p>
            <a:pPr algn="l"/>
            <a:r>
              <a:rPr lang="en-US" sz="2000" dirty="0">
                <a:solidFill>
                  <a:srgbClr val="C6D4EC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Key Demographic and Economic Insights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DC3870-74B9-373A-097D-4A788B22FD5C}"/>
              </a:ext>
            </a:extLst>
          </p:cNvPr>
          <p:cNvGrpSpPr/>
          <p:nvPr/>
        </p:nvGrpSpPr>
        <p:grpSpPr>
          <a:xfrm>
            <a:off x="1090248" y="1090662"/>
            <a:ext cx="688132" cy="688132"/>
            <a:chOff x="2667000" y="1"/>
            <a:chExt cx="6858000" cy="685799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30E1EAA-B4A0-89FD-E91F-E615A4F6A6A9}"/>
                </a:ext>
              </a:extLst>
            </p:cNvPr>
            <p:cNvSpPr/>
            <p:nvPr/>
          </p:nvSpPr>
          <p:spPr>
            <a:xfrm>
              <a:off x="2667000" y="1"/>
              <a:ext cx="6858000" cy="6857999"/>
            </a:xfrm>
            <a:prstGeom prst="ellipse">
              <a:avLst/>
            </a:prstGeom>
            <a:solidFill>
              <a:srgbClr val="0D1F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86EAE916-5B11-356E-7003-E377C0AF4E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55990" y="766192"/>
              <a:ext cx="3659542" cy="5061070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49899FE-BA20-B7AE-9B49-B1B191D4EF29}"/>
              </a:ext>
            </a:extLst>
          </p:cNvPr>
          <p:cNvSpPr/>
          <p:nvPr/>
        </p:nvSpPr>
        <p:spPr>
          <a:xfrm>
            <a:off x="1812050" y="977528"/>
            <a:ext cx="268346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b="1" dirty="0">
                <a:latin typeface="Inter" panose="02000503000000020004" pitchFamily="2" charset="0"/>
                <a:ea typeface="Inter" panose="02000503000000020004" pitchFamily="2" charset="0"/>
              </a:rPr>
              <a:t>Mohamed Baraa Lafi</a:t>
            </a:r>
          </a:p>
          <a:p>
            <a:r>
              <a:rPr lang="fr-FR" sz="1600" dirty="0">
                <a:solidFill>
                  <a:srgbClr val="C6D4EC"/>
                </a:solidFill>
                <a:latin typeface="Inter" panose="02000503000000020004" pitchFamily="2" charset="0"/>
                <a:ea typeface="Inter" panose="02000503000000020004" pitchFamily="2" charset="0"/>
              </a:rPr>
              <a:t>Articles</a:t>
            </a:r>
            <a:endParaRPr lang="en-US" sz="1400" dirty="0">
              <a:solidFill>
                <a:srgbClr val="C6D4E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153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54E63-E231-8BAD-5975-322510795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D983AA8-6164-70FE-3414-4C3014B00571}"/>
              </a:ext>
            </a:extLst>
          </p:cNvPr>
          <p:cNvSpPr/>
          <p:nvPr/>
        </p:nvSpPr>
        <p:spPr>
          <a:xfrm flipH="1">
            <a:off x="396815" y="428625"/>
            <a:ext cx="11398370" cy="6001200"/>
          </a:xfrm>
          <a:prstGeom prst="rect">
            <a:avLst/>
          </a:prstGeom>
          <a:gradFill flip="none" rotWithShape="1">
            <a:gsLst>
              <a:gs pos="0">
                <a:srgbClr val="205160"/>
              </a:gs>
              <a:gs pos="85000">
                <a:srgbClr val="0C1E30"/>
              </a:gs>
              <a:gs pos="100000">
                <a:srgbClr val="08152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196099-0DAB-CA55-AC8F-1F7B6006D08A}"/>
              </a:ext>
            </a:extLst>
          </p:cNvPr>
          <p:cNvSpPr/>
          <p:nvPr/>
        </p:nvSpPr>
        <p:spPr>
          <a:xfrm flipH="1">
            <a:off x="396815" y="6348592"/>
            <a:ext cx="11398370" cy="80783"/>
          </a:xfrm>
          <a:prstGeom prst="rect">
            <a:avLst/>
          </a:prstGeom>
          <a:solidFill>
            <a:srgbClr val="37A1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945FE5-6225-9B7D-0B52-7EE1527E4F66}"/>
              </a:ext>
            </a:extLst>
          </p:cNvPr>
          <p:cNvSpPr/>
          <p:nvPr/>
        </p:nvSpPr>
        <p:spPr>
          <a:xfrm flipH="1">
            <a:off x="7692052" y="977528"/>
            <a:ext cx="267604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TN" sz="1400" b="1" dirty="0"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محمد براء اللافي</a:t>
            </a:r>
            <a:endParaRPr lang="fr-FR" sz="1400" b="1" dirty="0">
              <a:latin typeface="Tajawal" panose="00000500000000000000" pitchFamily="2" charset="-78"/>
              <a:ea typeface="Inter" panose="02000503000000020004" pitchFamily="2" charset="0"/>
              <a:cs typeface="Tajawal" panose="00000500000000000000" pitchFamily="2" charset="-78"/>
            </a:endParaRPr>
          </a:p>
          <a:p>
            <a:pPr algn="r" rtl="1"/>
            <a:r>
              <a:rPr lang="ar-TN" sz="1600" dirty="0">
                <a:solidFill>
                  <a:srgbClr val="C6D4EC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مقالات</a:t>
            </a:r>
            <a:endParaRPr lang="en-US" sz="1400" dirty="0">
              <a:solidFill>
                <a:srgbClr val="C6D4EC"/>
              </a:solidFill>
              <a:latin typeface="Tajawal" panose="00000500000000000000" pitchFamily="2" charset="-78"/>
              <a:ea typeface="Inter" panose="02000503000000020004" pitchFamily="2" charset="0"/>
              <a:cs typeface="Tajawal" panose="000005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947A9A-4644-A0AE-DB6C-8B91C9258C97}"/>
              </a:ext>
            </a:extLst>
          </p:cNvPr>
          <p:cNvSpPr/>
          <p:nvPr/>
        </p:nvSpPr>
        <p:spPr>
          <a:xfrm flipH="1">
            <a:off x="9657194" y="2283480"/>
            <a:ext cx="1464283" cy="37334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TN" sz="1600" b="1" dirty="0">
                <a:solidFill>
                  <a:srgbClr val="0D1F3C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اجتماع</a:t>
            </a:r>
            <a:endParaRPr lang="en-US" sz="1600" b="1" dirty="0">
              <a:solidFill>
                <a:srgbClr val="0D1F3C"/>
              </a:solidFill>
              <a:latin typeface="Tajawal" panose="00000500000000000000" pitchFamily="2" charset="-78"/>
              <a:ea typeface="Inter" panose="02000503000000020004" pitchFamily="2" charset="0"/>
              <a:cs typeface="Tajawal" panose="00000500000000000000" pitchFamily="2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1922DF-596E-6F4F-E704-3D85AD90D1ED}"/>
              </a:ext>
            </a:extLst>
          </p:cNvPr>
          <p:cNvSpPr/>
          <p:nvPr/>
        </p:nvSpPr>
        <p:spPr>
          <a:xfrm flipH="1">
            <a:off x="6934403" y="2096811"/>
            <a:ext cx="2676043" cy="746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TN" dirty="0">
                <a:solidFill>
                  <a:srgbClr val="C6D4EC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ماي 2025</a:t>
            </a:r>
            <a:endParaRPr lang="en-US" sz="1600" dirty="0">
              <a:solidFill>
                <a:srgbClr val="C6D4EC"/>
              </a:solidFill>
              <a:latin typeface="Tajawal" panose="00000500000000000000" pitchFamily="2" charset="-78"/>
              <a:ea typeface="Inter" panose="02000503000000020004" pitchFamily="2" charset="0"/>
              <a:cs typeface="Tajawal" panose="00000500000000000000" pitchFamily="2" charset="-78"/>
            </a:endParaRPr>
          </a:p>
        </p:txBody>
      </p:sp>
      <p:pic>
        <p:nvPicPr>
          <p:cNvPr id="22" name="Graphic 21" descr="City with solid fill">
            <a:extLst>
              <a:ext uri="{FF2B5EF4-FFF2-40B4-BE49-F238E27FC236}">
                <a16:creationId xmlns:a16="http://schemas.microsoft.com/office/drawing/2014/main" id="{336470E7-3C91-6683-172A-418534054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937092" y="2914097"/>
            <a:ext cx="2872030" cy="2880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A1C4D18-2F1E-1B83-01B1-E16B41F490A2}"/>
              </a:ext>
            </a:extLst>
          </p:cNvPr>
          <p:cNvSpPr/>
          <p:nvPr/>
        </p:nvSpPr>
        <p:spPr>
          <a:xfrm flipH="1">
            <a:off x="3473283" y="3018598"/>
            <a:ext cx="7729351" cy="1577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 rtl="1"/>
            <a:r>
              <a:rPr lang="ar-TN" sz="4800" b="1" dirty="0"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التعداد السكاني في تونس</a:t>
            </a:r>
          </a:p>
          <a:p>
            <a:pPr algn="r" rtl="1"/>
            <a:r>
              <a:rPr lang="ar-TN" sz="2000" dirty="0">
                <a:solidFill>
                  <a:srgbClr val="C6D4EC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أبرز الدروس الديموغرافية والاقتصادية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46C6F6A-2229-F87D-B73C-EDA07EADCED0}"/>
              </a:ext>
            </a:extLst>
          </p:cNvPr>
          <p:cNvGrpSpPr/>
          <p:nvPr/>
        </p:nvGrpSpPr>
        <p:grpSpPr>
          <a:xfrm>
            <a:off x="10426460" y="1090662"/>
            <a:ext cx="687600" cy="688132"/>
            <a:chOff x="2667000" y="1"/>
            <a:chExt cx="6858000" cy="6857999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8D1E3A4-4A49-FD7D-59EE-2F23FBC2246B}"/>
                </a:ext>
              </a:extLst>
            </p:cNvPr>
            <p:cNvSpPr/>
            <p:nvPr/>
          </p:nvSpPr>
          <p:spPr>
            <a:xfrm>
              <a:off x="2667000" y="1"/>
              <a:ext cx="6858000" cy="6857999"/>
            </a:xfrm>
            <a:prstGeom prst="ellipse">
              <a:avLst/>
            </a:prstGeom>
            <a:solidFill>
              <a:srgbClr val="0D1F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endParaRP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DD5CD9F-A30F-A751-4D5A-47A39C9ACC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55990" y="766192"/>
              <a:ext cx="3659542" cy="50610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8666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8215-1F31-0A8C-00B3-75B44DFDE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A838FC9-0485-D675-833A-C45EA1066F19}"/>
              </a:ext>
            </a:extLst>
          </p:cNvPr>
          <p:cNvSpPr/>
          <p:nvPr/>
        </p:nvSpPr>
        <p:spPr>
          <a:xfrm>
            <a:off x="381000" y="428625"/>
            <a:ext cx="11430000" cy="6001200"/>
          </a:xfrm>
          <a:prstGeom prst="rect">
            <a:avLst/>
          </a:prstGeom>
          <a:gradFill flip="none" rotWithShape="1">
            <a:gsLst>
              <a:gs pos="0">
                <a:srgbClr val="313285"/>
              </a:gs>
              <a:gs pos="85000">
                <a:srgbClr val="0C1E30"/>
              </a:gs>
              <a:gs pos="100000">
                <a:srgbClr val="08152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7320AD-F997-6E18-50CF-ABDAD1027A79}"/>
              </a:ext>
            </a:extLst>
          </p:cNvPr>
          <p:cNvSpPr/>
          <p:nvPr/>
        </p:nvSpPr>
        <p:spPr>
          <a:xfrm>
            <a:off x="381000" y="6348592"/>
            <a:ext cx="11430000" cy="80783"/>
          </a:xfrm>
          <a:prstGeom prst="rect">
            <a:avLst/>
          </a:prstGeom>
          <a:solidFill>
            <a:srgbClr val="7B3A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FFEA707-CE92-9681-71AA-AE7BA6FCDB0C}"/>
              </a:ext>
            </a:extLst>
          </p:cNvPr>
          <p:cNvGrpSpPr/>
          <p:nvPr/>
        </p:nvGrpSpPr>
        <p:grpSpPr>
          <a:xfrm>
            <a:off x="1090248" y="1090662"/>
            <a:ext cx="688132" cy="688132"/>
            <a:chOff x="2667000" y="1"/>
            <a:chExt cx="6858000" cy="685799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B31EEF9-579F-763D-3BFC-FC95E0C9C227}"/>
                </a:ext>
              </a:extLst>
            </p:cNvPr>
            <p:cNvSpPr/>
            <p:nvPr/>
          </p:nvSpPr>
          <p:spPr>
            <a:xfrm>
              <a:off x="2667000" y="1"/>
              <a:ext cx="6858000" cy="6857999"/>
            </a:xfrm>
            <a:prstGeom prst="ellipse">
              <a:avLst/>
            </a:prstGeom>
            <a:solidFill>
              <a:srgbClr val="0D1F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46E7AB5-8656-2FFA-AAE2-619623E8C2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55990" y="766192"/>
              <a:ext cx="3659542" cy="5061070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F7242BFE-55B7-00D4-19CA-B5C45B377B9A}"/>
              </a:ext>
            </a:extLst>
          </p:cNvPr>
          <p:cNvSpPr/>
          <p:nvPr/>
        </p:nvSpPr>
        <p:spPr>
          <a:xfrm>
            <a:off x="1812050" y="977528"/>
            <a:ext cx="268346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b="1" dirty="0">
                <a:latin typeface="Inter" panose="02000503000000020004" pitchFamily="2" charset="0"/>
                <a:ea typeface="Inter" panose="02000503000000020004" pitchFamily="2" charset="0"/>
              </a:rPr>
              <a:t>Mohamed Baraa Lafi</a:t>
            </a:r>
          </a:p>
          <a:p>
            <a:r>
              <a:rPr lang="fr-FR" sz="1600" dirty="0">
                <a:solidFill>
                  <a:srgbClr val="C6D4EC"/>
                </a:solidFill>
                <a:latin typeface="Inter" panose="02000503000000020004" pitchFamily="2" charset="0"/>
                <a:ea typeface="Inter" panose="02000503000000020004" pitchFamily="2" charset="0"/>
              </a:rPr>
              <a:t>Articles</a:t>
            </a:r>
            <a:endParaRPr lang="en-US" sz="1400" dirty="0">
              <a:solidFill>
                <a:srgbClr val="C6D4E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6259B9-96BE-F887-B735-F7C0EE67EE69}"/>
              </a:ext>
            </a:extLst>
          </p:cNvPr>
          <p:cNvSpPr/>
          <p:nvPr/>
        </p:nvSpPr>
        <p:spPr>
          <a:xfrm>
            <a:off x="1056578" y="2283480"/>
            <a:ext cx="1468346" cy="373340"/>
          </a:xfrm>
          <a:prstGeom prst="roundRect">
            <a:avLst>
              <a:gd name="adj" fmla="val 50000"/>
            </a:avLst>
          </a:prstGeom>
          <a:solidFill>
            <a:srgbClr val="7A3B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POLITIQUE</a:t>
            </a:r>
            <a:endParaRPr lang="en-US" sz="1600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B3B891-1514-980B-31CA-F104A219C30A}"/>
              </a:ext>
            </a:extLst>
          </p:cNvPr>
          <p:cNvSpPr/>
          <p:nvPr/>
        </p:nvSpPr>
        <p:spPr>
          <a:xfrm>
            <a:off x="2571801" y="2096811"/>
            <a:ext cx="2683469" cy="746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rgbClr val="C6D4EC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September 2025</a:t>
            </a:r>
            <a:endParaRPr lang="en-US" sz="1600" dirty="0">
              <a:solidFill>
                <a:srgbClr val="C6D4E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4CB530-07E4-1AB0-0BA5-42766E75BAFA}"/>
              </a:ext>
            </a:extLst>
          </p:cNvPr>
          <p:cNvSpPr/>
          <p:nvPr/>
        </p:nvSpPr>
        <p:spPr>
          <a:xfrm>
            <a:off x="975194" y="3018598"/>
            <a:ext cx="8375839" cy="1577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Reconstruction in the </a:t>
            </a:r>
            <a:r>
              <a:rPr lang="fr-FR" sz="4800" b="1" dirty="0">
                <a:latin typeface="Inter" panose="02000503000000020004" pitchFamily="2" charset="0"/>
                <a:ea typeface="Inter" panose="02000503000000020004" pitchFamily="2" charset="0"/>
              </a:rPr>
              <a:t>ME</a:t>
            </a:r>
          </a:p>
          <a:p>
            <a:r>
              <a:rPr lang="en-US" sz="2000" dirty="0">
                <a:solidFill>
                  <a:srgbClr val="C6D4EC"/>
                </a:solidFill>
                <a:latin typeface="Inter" panose="02000503000000020004" pitchFamily="2" charset="0"/>
                <a:ea typeface="Inter" panose="02000503000000020004" pitchFamily="2" charset="0"/>
              </a:rPr>
              <a:t>A comparison between regional contributions</a:t>
            </a:r>
          </a:p>
        </p:txBody>
      </p:sp>
      <p:pic>
        <p:nvPicPr>
          <p:cNvPr id="23" name="Graphic 22" descr="Bank with solid fill">
            <a:extLst>
              <a:ext uri="{FF2B5EF4-FFF2-40B4-BE49-F238E27FC236}">
                <a16:creationId xmlns:a16="http://schemas.microsoft.com/office/drawing/2014/main" id="{F64BF494-5300-EA0C-D750-53B08D864F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9224" y="2914097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108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CB169-887C-29B7-B870-3B41099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2E39D6B-5D9A-555E-9F3C-EC9C87CFFB30}"/>
              </a:ext>
            </a:extLst>
          </p:cNvPr>
          <p:cNvSpPr/>
          <p:nvPr/>
        </p:nvSpPr>
        <p:spPr>
          <a:xfrm flipH="1">
            <a:off x="333555" y="428625"/>
            <a:ext cx="11524890" cy="6001200"/>
          </a:xfrm>
          <a:prstGeom prst="rect">
            <a:avLst/>
          </a:prstGeom>
          <a:gradFill flip="none" rotWithShape="1">
            <a:gsLst>
              <a:gs pos="0">
                <a:srgbClr val="313285"/>
              </a:gs>
              <a:gs pos="85000">
                <a:srgbClr val="0C1E30"/>
              </a:gs>
              <a:gs pos="100000">
                <a:srgbClr val="08152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6B8C5E-B22B-AEF8-FBF9-8DE17FF116E3}"/>
              </a:ext>
            </a:extLst>
          </p:cNvPr>
          <p:cNvSpPr/>
          <p:nvPr/>
        </p:nvSpPr>
        <p:spPr>
          <a:xfrm flipH="1">
            <a:off x="333555" y="6348592"/>
            <a:ext cx="11524890" cy="80783"/>
          </a:xfrm>
          <a:prstGeom prst="rect">
            <a:avLst/>
          </a:prstGeom>
          <a:solidFill>
            <a:srgbClr val="7B3A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1AA469-94A2-44DC-2A12-9B004A446D4B}"/>
              </a:ext>
            </a:extLst>
          </p:cNvPr>
          <p:cNvSpPr/>
          <p:nvPr/>
        </p:nvSpPr>
        <p:spPr>
          <a:xfrm flipH="1">
            <a:off x="7709768" y="977528"/>
            <a:ext cx="270574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TN" sz="1400" b="1" dirty="0"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محمد براء اللافي</a:t>
            </a:r>
            <a:endParaRPr lang="fr-FR" sz="1400" b="1" dirty="0">
              <a:latin typeface="Tajawal" panose="00000500000000000000" pitchFamily="2" charset="-78"/>
              <a:ea typeface="Inter" panose="02000503000000020004" pitchFamily="2" charset="0"/>
              <a:cs typeface="Tajawal" panose="00000500000000000000" pitchFamily="2" charset="-78"/>
            </a:endParaRPr>
          </a:p>
          <a:p>
            <a:pPr algn="r" rtl="1"/>
            <a:r>
              <a:rPr lang="ar-TN" sz="1600" dirty="0">
                <a:solidFill>
                  <a:srgbClr val="C6D4EC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مقالات</a:t>
            </a:r>
            <a:endParaRPr lang="en-US" sz="1400" dirty="0">
              <a:solidFill>
                <a:srgbClr val="C6D4EC"/>
              </a:solidFill>
              <a:latin typeface="Tajawal" panose="00000500000000000000" pitchFamily="2" charset="-78"/>
              <a:ea typeface="Inter" panose="02000503000000020004" pitchFamily="2" charset="0"/>
              <a:cs typeface="Tajawal" panose="000005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F9835F-325C-BDD3-A831-18C409CF3428}"/>
              </a:ext>
            </a:extLst>
          </p:cNvPr>
          <p:cNvSpPr/>
          <p:nvPr/>
        </p:nvSpPr>
        <p:spPr>
          <a:xfrm flipH="1">
            <a:off x="9696722" y="2283480"/>
            <a:ext cx="1480536" cy="373340"/>
          </a:xfrm>
          <a:prstGeom prst="roundRect">
            <a:avLst>
              <a:gd name="adj" fmla="val 50000"/>
            </a:avLst>
          </a:prstGeom>
          <a:solidFill>
            <a:srgbClr val="7A3B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TN" sz="1600" b="1" dirty="0">
                <a:solidFill>
                  <a:schemeClr val="bg1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سياسة</a:t>
            </a:r>
            <a:endParaRPr lang="en-US" sz="1600" b="1" dirty="0">
              <a:solidFill>
                <a:schemeClr val="bg1"/>
              </a:solidFill>
              <a:latin typeface="Tajawal" panose="00000500000000000000" pitchFamily="2" charset="-78"/>
              <a:ea typeface="Inter" panose="02000503000000020004" pitchFamily="2" charset="0"/>
              <a:cs typeface="Tajawal" panose="00000500000000000000" pitchFamily="2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E5B38C-5F9E-8599-1FB4-7A64075D76C8}"/>
              </a:ext>
            </a:extLst>
          </p:cNvPr>
          <p:cNvSpPr/>
          <p:nvPr/>
        </p:nvSpPr>
        <p:spPr>
          <a:xfrm flipH="1">
            <a:off x="6943710" y="2096811"/>
            <a:ext cx="2705747" cy="746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TN" dirty="0">
                <a:solidFill>
                  <a:srgbClr val="C6D4EC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سبتمبر 2025</a:t>
            </a:r>
            <a:endParaRPr lang="en-US" sz="1600" dirty="0">
              <a:solidFill>
                <a:srgbClr val="C6D4EC"/>
              </a:solidFill>
              <a:latin typeface="Tajawal" panose="00000500000000000000" pitchFamily="2" charset="-78"/>
              <a:ea typeface="Inter" panose="02000503000000020004" pitchFamily="2" charset="0"/>
              <a:cs typeface="Tajawal" panose="00000500000000000000" pitchFamily="2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5289A5-0781-BF07-A03F-D5F1D5A522F7}"/>
              </a:ext>
            </a:extLst>
          </p:cNvPr>
          <p:cNvSpPr/>
          <p:nvPr/>
        </p:nvSpPr>
        <p:spPr>
          <a:xfrm flipH="1">
            <a:off x="3053751" y="3018598"/>
            <a:ext cx="8205566" cy="1577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 rtl="1"/>
            <a:r>
              <a:rPr lang="ar-TN" sz="4800" b="1" dirty="0"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إعادة الإعمار في الشرق الأوسط</a:t>
            </a:r>
          </a:p>
          <a:p>
            <a:pPr algn="r" rtl="1"/>
            <a:r>
              <a:rPr lang="ar-TN" sz="2000" dirty="0">
                <a:solidFill>
                  <a:srgbClr val="C6D4EC"/>
                </a:solidFill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rPr>
              <a:t>مقارنة بين مساهمات دول المنطقة</a:t>
            </a:r>
          </a:p>
        </p:txBody>
      </p:sp>
      <p:pic>
        <p:nvPicPr>
          <p:cNvPr id="23" name="Graphic 22" descr="Bank with solid fill">
            <a:extLst>
              <a:ext uri="{FF2B5EF4-FFF2-40B4-BE49-F238E27FC236}">
                <a16:creationId xmlns:a16="http://schemas.microsoft.com/office/drawing/2014/main" id="{CC516AB9-1008-98BA-9E89-94CFBA081E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879829" y="2914097"/>
            <a:ext cx="2903909" cy="2880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BC2E601-5C2B-FCBB-8208-A1BFDEEB14C7}"/>
              </a:ext>
            </a:extLst>
          </p:cNvPr>
          <p:cNvGrpSpPr/>
          <p:nvPr/>
        </p:nvGrpSpPr>
        <p:grpSpPr>
          <a:xfrm>
            <a:off x="10426460" y="1090662"/>
            <a:ext cx="687600" cy="688132"/>
            <a:chOff x="2667000" y="1"/>
            <a:chExt cx="6858000" cy="6857999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B3DB57B-D886-C392-6742-5D859A4B9846}"/>
                </a:ext>
              </a:extLst>
            </p:cNvPr>
            <p:cNvSpPr/>
            <p:nvPr/>
          </p:nvSpPr>
          <p:spPr>
            <a:xfrm>
              <a:off x="2667000" y="1"/>
              <a:ext cx="6858000" cy="6857999"/>
            </a:xfrm>
            <a:prstGeom prst="ellipse">
              <a:avLst/>
            </a:prstGeom>
            <a:solidFill>
              <a:srgbClr val="0D1F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Tajawal" panose="00000500000000000000" pitchFamily="2" charset="-78"/>
                <a:ea typeface="Inter" panose="02000503000000020004" pitchFamily="2" charset="0"/>
                <a:cs typeface="Tajawal" panose="00000500000000000000" pitchFamily="2" charset="-78"/>
              </a:endParaRP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493DC0FD-03B5-A30F-880B-C4E5D2D4B3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55990" y="766192"/>
              <a:ext cx="3659542" cy="50610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0591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Inter</vt:lpstr>
      <vt:lpstr>Tajawal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Baraa Lafi</dc:creator>
  <cp:lastModifiedBy>Mohamed Baraa Lafi</cp:lastModifiedBy>
  <cp:revision>66</cp:revision>
  <dcterms:created xsi:type="dcterms:W3CDTF">2026-07-20T20:21:03Z</dcterms:created>
  <dcterms:modified xsi:type="dcterms:W3CDTF">2026-07-22T16:37:06Z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c20be7-c3a5-46e3-9158-fa8a02ce2395_Enabled">
    <vt:lpwstr>true</vt:lpwstr>
  </property>
  <property fmtid="{D5CDD505-2E9C-101B-9397-08002B2CF9AE}" pid="3" name="MSIP_Label_d5c20be7-c3a5-46e3-9158-fa8a02ce2395_SetDate">
    <vt:lpwstr>2026-07-20T20:25:35Z</vt:lpwstr>
  </property>
  <property fmtid="{D5CDD505-2E9C-101B-9397-08002B2CF9AE}" pid="4" name="MSIP_Label_d5c20be7-c3a5-46e3-9158-fa8a02ce2395_Method">
    <vt:lpwstr>Standard</vt:lpwstr>
  </property>
  <property fmtid="{D5CDD505-2E9C-101B-9397-08002B2CF9AE}" pid="5" name="MSIP_Label_d5c20be7-c3a5-46e3-9158-fa8a02ce2395_Name">
    <vt:lpwstr>defa4170-0d19-0005-0004-bc88714345d2</vt:lpwstr>
  </property>
  <property fmtid="{D5CDD505-2E9C-101B-9397-08002B2CF9AE}" pid="6" name="MSIP_Label_d5c20be7-c3a5-46e3-9158-fa8a02ce2395_SiteId">
    <vt:lpwstr>8c6f9078-037e-4261-a583-52a944e55f7f</vt:lpwstr>
  </property>
  <property fmtid="{D5CDD505-2E9C-101B-9397-08002B2CF9AE}" pid="7" name="MSIP_Label_d5c20be7-c3a5-46e3-9158-fa8a02ce2395_ActionId">
    <vt:lpwstr>d833e22d-11cf-4f25-a28d-35c72eeb1b09</vt:lpwstr>
  </property>
  <property fmtid="{D5CDD505-2E9C-101B-9397-08002B2CF9AE}" pid="8" name="MSIP_Label_d5c20be7-c3a5-46e3-9158-fa8a02ce2395_ContentBits">
    <vt:lpwstr>0</vt:lpwstr>
  </property>
  <property fmtid="{D5CDD505-2E9C-101B-9397-08002B2CF9AE}" pid="9" name="MSIP_Label_d5c20be7-c3a5-46e3-9158-fa8a02ce2395_Tag">
    <vt:lpwstr>10, 3, 0, 1</vt:lpwstr>
  </property>
</Properties>
</file>